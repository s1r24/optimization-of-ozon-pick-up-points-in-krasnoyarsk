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3397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Мы разработали математическую геоаналитическую модель для размещения новых ПВЗ Ozon в Красноярске. За 15 минут покажем: где сеть недопокрыта, как мы это измерили и какие 5 точек предлагаем открыть с максимальным ROI. Представьтесь, команда из трёх человек.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Презентация делится на две части. Первая — диагностика: как устроена наша модель и что она показала про текущую сеть. Вторая — рекомендации: как алгоритм выбирает зоны и конкретные адреса, и какой бизнес-результат это даёт. В конце — допущения и ссылка на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Переходим к первой части — диагностике. Здесь мы отвечаем на вопрос: где именно текущая сеть ПВЗ не справляется со спросом, и как мы это измеряем количественно.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Основа модели — гексагональная сетка Uber H3 восьмого разрешения: один гексагон ≈ 5-10 минут пешком, радиус 537 метров, это естественная зона охвата ПВЗ. Население мы не размазываем равномерно, а распределяем дазиметрически — пропорционально жилому объёму зданий: площадь фундамента из OpenStreetMap умножается на этажность. Источники: OSM, перепись Росстата 2020 и внутренняя база координат ПВЗ.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результат. Красно-оранжевые соты — пики плотности населения по нашей модели, синие точки — действующие ПВЗ Ozon. Сразу виден дисбаланс: есть густонаселённые кластеры, где пунктов выдачи практически нет. Это и есть наши потенциальные слепые зоны, которые мы сейчас измерим.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Переводим картинку в цифры. Красным подсвечены гексагоны, где в радиусе доступности нет ни одного ПВЗ. Таких — 337 из 483, почти 70 процентов площади города. В них живёт 105 тысяч человек неохваченного спроса. Наша бизнес-цель — найти в этом массиве 5 самых приоритетных макро-зон для экспансии.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Чтобы сравнивать районы, вводим индекс доступности: число ПВЗ на 10 тысяч жителей. Слева — тепловая карта индекса, справа — рейтинг районов. Анти-лидер — Железнодорожный: всего 2.3 пункта на 10 тысяч. На другом полюсе Центральный — выше 5, и это уже зона риска: избыток точек означает каннибализацию трафика между своими же ПВЗ.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распределение всех гексагонов по индексу доступности. Картина асимметричная: огромный пик слева — это сотни гексагонов в зоне острого дефицита, у самого нуля. Красная линия — среднее по городу, 2.44. Справа тянется длинный тонкий хвост — единичные перегретые зоны с избытком ПВЗ. То есть проблема не в нехватке точек вообще, а в их неправильном географическом распределении.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Обратная сторона дефицита — перегрев. Средняя обеспеченность по городу 2.44 ПВЗ на 10 тысяч. Порогом перенасыщения мы считаем двукратное превышение — индекс выше 4.88. Таких перенасыщенных гексагонов 52: здесь новые точки не нужны, они только отъедают трафик у существующих. Алгоритм будет такие зоны исключать.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Знать, где открывать, мало — нужно знать, что реально доступно в аренду. Мы написали собственный парсер коммерческой недвижимости на ЦИАН и Авито: Selenium, BeautifulSoup, Pandas. Бизнес-фильтры: Красноярск, стрит-ритейл в аренду, 30-150 квадратов, 10-300 тысяч в месяц. Из 1933 сырых объявлений после очистки осталось 568 валидных кандидатов. Главные сложности — обход блокировок ротацией User-Agent и чистка данных: фейки, пересчёт цены за метр в цену за месяц, отсев продаж под видом аренды.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финальный пул — 568 актуальных помещений на карте, раскрашенных по «ценовому светофору»: зелёные до 50 тысяч в месяц, жёлтые до 100, красные дороже. Это и есть пространство выбора для второго уровня модели: алгоритм будет искать не абстрактную точку, а конкретный адрес с известной арендной ставкой.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Диагностика завершена. Вторая часть — наше решение: как именно алгоритм превращает все эти данные в конкретный список из пяти адресов, которые стоит открыть в первую очередь.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идея решения — двухуровневость, движение от общего к частному. Искать идеальное помещение сразу по всему городу долго, дорого и рискованно: можно открыть шикарный ПВЗ там, где он никому не нужен. Поэтому сначала макро-уровень — делим город на сетку и находим топ-5 болевых точек, где людей много, а Ozon нет. Затем микро-уровень — спускаемся внутрь этих пяти зон и перебираем доступную недвижимость, выбирая конкретные адреса.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макро-уровне мы ищем гексагоны с максимальным скоплением неохваченного населения и сразу отсекаем зоны, где физически нет недвижимости под аренду. Ключевая защита — от каннибализации. Если просто взять топ-5 по дефициту, они окажутся на одной густонаселённой улице. Поэтому применяем пространственный алгоритм подавления немаксимумов, NMS: как только выбран гексагон номер один, он блокирует открытие точек в соседних сотах. В результате пять зон равномерно распределены по городу — видно на карте.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 решением — строгая математика. Первое: вероятность похода в ПВЗ падает с расстоянием, поэтому мы вводим гравитационную функцию затухания — экспоненциальный штраф, где beta это комфортный пеший радиус, 500 метров. Второе: индекс неудовлетворённого спроса U — это население гексагона, умноженное на долю людей, которым сейчас далеко идти до Ozon. И финальный скор дефицита домножается на бинарный фильтр наличия доступной аренды — если арендовать нечего, зона не рассматривается.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мы внутри приоритетного гексагона, и у нас есть, скажем, десяток помещений. Как выбрать лучшее? Вокруг каждого адреса рисуем пешую зону охвата — буфер 500 метров. Но считаем честно: применяем ареальную интерполяцию. Алгоритм не суммирует всех людей подряд, а вычитает участки, которые уже покрыты существующими ПВЗ. Мы засчитываем только новую кровь — уникальных клиентов, которые раньше жили в слепых зонах. На схеме: заштрихована только та часть зелёного круга, что не пересекается с синим.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шаг — связать пространственную аналитику с экономикой. Маржинальный охват MCI — это число новых уникальных клиентов с предыдущего шага. Дальше считаем ROI для каждого адреса: маржинальный охват, умноженный на LTV — ожидаемую выручку с клиента, делённый на стоимость аренды. Алгоритм не выберет помещение, которое даёт на 5% больше охвата, но стоит втрое дороже. Все адреса сортируются по ROI, и для каждой из пяти макро-зон выдаётся один абсолютный победитель.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слайд защиты — результат. Алгоритм выдал пять адресов, отмеченных звёздами на карте. Совокупно они дают плюс 6 183 уникальных клиента при бюджете аренды 203 тысячи в месяц. Это значит стоимость привлечения клиента всего 33 рубля — крайне низкий CAC для офлайн-канала. Доля непокрытого населения снижается с 48.13 до 47.61 процента — половина процентного пункта всего пятью точками, и это только первая волна экспансии.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качества решения — пространственный граф новой сети. Он визуализирует реальные расстояния между текущими и новыми пунктами. Среднее расстояние до ближайшего ПВЗ — 196 метров, минимальное 94, максимальное 462; четыре из пяти точек попадают в радиус 500 метров. Главное: в графе нет критически коротких рёбер с пересекающимися зонами охвата. Это математически подтверждает — новые ПВЗ генерируют уникальный, а не конкурирующий трафик.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Будем честны перед жюри — у модели есть допущения, и мы их осознаём. Первое, пространственное: расстояния считаем по геометрии буферов, а не по реальному дорожному графу. Второе, поведенческое: предполагаем, что клиент идёт в ближайший ПВЗ, хотя в жизни влияют бренд и привычка. Третье, экономическое: LTV и арендные ставки — оценочные, операционные расходы вынесены за скобки. Четвёртое, демографический лаг: перепись 2020 года не учитывает новостройки последних лет. Всё это — направления для развития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 Резюме: мы построили воспроизводимую двухуровневую модель, которая на реальных данных Красноярска находит зоны дефицита и конкретные адреса с максимальным ROI. Весь код открыт на GitHub.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1r24/Optimization-of-Ozon-pick-up-points-in-Krasnoyars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1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00" y="-1143000"/>
            <a:ext cx="7239000" cy="723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742950"/>
            <a:ext cx="18105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34" dirty="0">
                <a:solidFill>
                  <a:srgbClr val="FFFFFF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ГЕОАНАЛИТИКА · SPATIAL OPTIMIZATION · H3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914400" y="3306842"/>
            <a:ext cx="13538835" cy="1670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300" b="1" kern="0" spc="-126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Оптимизация размещения сети ПВЗ Ozon в Красноярске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914400" y="5224701"/>
            <a:ext cx="11576685" cy="1349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35000"/>
              </a:lnSpc>
            </a:pPr>
            <a:r>
              <a:rPr lang="ru-RU" sz="2550" dirty="0">
                <a:solidFill>
                  <a:srgbClr val="FFFFFF">
                    <a:alpha val="92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Цель проекта</a:t>
            </a: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: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Применить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геоаналитические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методы для анализа существующей сети ПВЗ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Ozon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определения оптимальных мест для новых точек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ru-RU" sz="2550" dirty="0">
                <a:solidFill>
                  <a:srgbClr val="FFFFFF">
                    <a:alpha val="92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</a:t>
            </a: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914400" y="8772525"/>
            <a:ext cx="724152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КОМАНДА 3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9172575"/>
            <a:ext cx="724152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Васильев Дмитрий · Буков Семён · Моисеев Богдан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5041881" y="9239250"/>
            <a:ext cx="25648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Красноярск · 2025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НАВИГАЦИЯ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1920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План презентации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884170"/>
            <a:ext cx="7924800" cy="15240"/>
          </a:xfrm>
          <a:prstGeom prst="rect">
            <a:avLst/>
          </a:prstGeom>
          <a:solidFill>
            <a:srgbClr val="005B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58390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28750" y="2327910"/>
            <a:ext cx="5000256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Анализ текущего покрытия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314706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05890" y="3147060"/>
            <a:ext cx="662138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Методология геоанализа и оценка населения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71475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05890" y="3714750"/>
            <a:ext cx="464559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Гексагональная карта покрытия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28244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05890" y="4282440"/>
            <a:ext cx="50724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Слепые зоны: неохваченный спрос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485013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405890" y="4850130"/>
            <a:ext cx="474237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Индекс доступности по районам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4400" y="541782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05890" y="5417820"/>
            <a:ext cx="586595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Распределение гексагонов по дефициту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4400" y="598551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405890" y="5985510"/>
            <a:ext cx="58498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Зоны перегрева и риск каннибализации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655320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405890" y="6553200"/>
            <a:ext cx="564003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Парсинг коммерческой недвижимости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4400" y="712089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05890" y="7120890"/>
            <a:ext cx="563427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Карта доступных помещений с ценами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448800" y="2884170"/>
            <a:ext cx="7924800" cy="15240"/>
          </a:xfrm>
          <a:prstGeom prst="rect">
            <a:avLst/>
          </a:prstGeom>
          <a:solidFill>
            <a:srgbClr val="005BFF"/>
          </a:solidFill>
          <a:ln/>
        </p:spPr>
      </p:sp>
      <p:sp>
        <p:nvSpPr>
          <p:cNvPr id="24" name="Text 22"/>
          <p:cNvSpPr/>
          <p:nvPr/>
        </p:nvSpPr>
        <p:spPr>
          <a:xfrm>
            <a:off x="9448800" y="2358390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9963150" y="2327910"/>
            <a:ext cx="559158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Рекомендации по расширению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9448800" y="314706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940290" y="3147060"/>
            <a:ext cx="670062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Архитектура решения: двухуровневая модель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448800" y="371475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940290" y="3714750"/>
            <a:ext cx="599797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Макро-уровень: поиск приоритетных зон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448800" y="428244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940290" y="4282440"/>
            <a:ext cx="387405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Математика макро-уровня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448800" y="485013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940290" y="4850130"/>
            <a:ext cx="521766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Микро-уровень: оценка помещений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448800" y="541782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940290" y="5417820"/>
            <a:ext cx="423749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Метрики микро-уровня и ROI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448800" y="598551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940290" y="5985510"/>
            <a:ext cx="487295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Результаты внедрения алгоритма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9448800" y="6553200"/>
            <a:ext cx="3962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9940290" y="6553200"/>
            <a:ext cx="428176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Граф доступности новой сети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9448800" y="7120890"/>
            <a:ext cx="119634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· 19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0740390" y="7120890"/>
            <a:ext cx="578384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Допущения, ограничения и заключение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5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1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52500" y="5905500"/>
            <a:ext cx="5905500" cy="5905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377446"/>
            <a:ext cx="18105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36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01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914400" y="3979426"/>
            <a:ext cx="12753975" cy="1903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200" b="1" kern="0" spc="-144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Анализ текущего покрытия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914400" y="6111359"/>
            <a:ext cx="981075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>
                    <a:alpha val="90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Где сосредоточен спрос, где сеть его не закрывает и насколько остро ощущается дефицит.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01 · МЕТОДОЛОГИЯ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Методология геоанализа и оценка населения</a:t>
            </a:r>
            <a:endParaRPr lang="en-US" sz="4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2346960"/>
            <a:ext cx="133350" cy="133350"/>
          </a:xfrm>
          <a:prstGeom prst="ellipse">
            <a:avLst/>
          </a:prstGeom>
          <a:solidFill>
            <a:srgbClr val="005BFF"/>
          </a:solidFill>
          <a:ln/>
        </p:spPr>
      </p:sp>
      <p:sp>
        <p:nvSpPr>
          <p:cNvPr id="5" name="Text 3"/>
          <p:cNvSpPr/>
          <p:nvPr/>
        </p:nvSpPr>
        <p:spPr>
          <a:xfrm>
            <a:off x="1271529" y="2251710"/>
            <a:ext cx="899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1A33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Пространственная сетка — Uber H3 (res 8)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7300" y="2632710"/>
            <a:ext cx="8420812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Один гексагон отражает зону 5–10-минутной пешей доступности, радиус ≈ 537 м.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3779520"/>
            <a:ext cx="133350" cy="133350"/>
          </a:xfrm>
          <a:prstGeom prst="ellipse">
            <a:avLst/>
          </a:prstGeom>
          <a:solidFill>
            <a:srgbClr val="005BFF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3665220"/>
            <a:ext cx="899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1A33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Источники данных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57300" y="4065270"/>
            <a:ext cx="8420812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Полигоны и этажность зданий — OpenStreetMap · население — перепись Росстата 2020 · координаты ПВЗ — внутренняя база</a:t>
            </a:r>
            <a:r>
              <a:rPr lang="en-US" sz="21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5585460"/>
            <a:ext cx="133350" cy="133350"/>
          </a:xfrm>
          <a:prstGeom prst="ellipse">
            <a:avLst/>
          </a:prstGeom>
          <a:solidFill>
            <a:srgbClr val="005BFF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5471160"/>
            <a:ext cx="8993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1A33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Дазиметрическое распределение</a:t>
            </a:r>
            <a:endParaRPr lang="en-US" sz="2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03139" y="5855168"/>
            <a:ext cx="8420812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 err="1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Отказ</a:t>
            </a:r>
            <a:r>
              <a:rPr lang="en-US" sz="2100" dirty="0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 </a:t>
            </a:r>
            <a:r>
              <a:rPr lang="en-US" sz="2100" dirty="0" err="1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от</a:t>
            </a:r>
            <a:r>
              <a:rPr lang="en-US" sz="2100" dirty="0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 </a:t>
            </a:r>
            <a:r>
              <a:rPr lang="en-US" sz="2100" dirty="0" err="1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равномерного</a:t>
            </a:r>
            <a:r>
              <a:rPr lang="en-US" sz="2100" dirty="0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 «</a:t>
            </a:r>
            <a:r>
              <a:rPr lang="en-US" sz="2100" dirty="0" err="1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размазывания</a:t>
            </a:r>
            <a:r>
              <a:rPr lang="en-US" sz="2100" dirty="0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»: </a:t>
            </a:r>
            <a:r>
              <a:rPr lang="en-US" sz="2100" dirty="0" err="1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люди</a:t>
            </a:r>
            <a:r>
              <a:rPr lang="en-US" sz="2100" dirty="0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 </a:t>
            </a:r>
            <a:r>
              <a:rPr lang="en-US" sz="2100" dirty="0" err="1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распределяются</a:t>
            </a:r>
            <a:r>
              <a:rPr lang="en-US" sz="2100" dirty="0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 </a:t>
            </a:r>
            <a:r>
              <a:rPr lang="en-US" sz="2100" dirty="0" err="1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строго</a:t>
            </a:r>
            <a:r>
              <a:rPr lang="en-US" sz="2100" dirty="0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 </a:t>
            </a:r>
            <a:r>
              <a:rPr lang="en-US" sz="2100" dirty="0" err="1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пропорционально</a:t>
            </a:r>
            <a:r>
              <a:rPr lang="en-US" sz="2100" dirty="0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 </a:t>
            </a:r>
            <a:r>
              <a:rPr lang="en-US" sz="2100" dirty="0" err="1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жилому</a:t>
            </a:r>
            <a:r>
              <a:rPr lang="en-US" sz="2100" dirty="0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 </a:t>
            </a:r>
            <a:r>
              <a:rPr lang="en-US" sz="2100" dirty="0" err="1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объёму</a:t>
            </a:r>
            <a:r>
              <a:rPr lang="en-US" sz="2100" dirty="0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 </a:t>
            </a:r>
            <a:r>
              <a:rPr lang="en-US" sz="2100" dirty="0" err="1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зданий</a:t>
            </a:r>
            <a:r>
              <a:rPr lang="en-US" sz="2100" dirty="0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 (</a:t>
            </a:r>
            <a:r>
              <a:rPr lang="en-US" sz="2100" dirty="0" err="1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площадь</a:t>
            </a:r>
            <a:r>
              <a:rPr lang="en-US" sz="2100" dirty="0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 × </a:t>
            </a:r>
            <a:r>
              <a:rPr lang="en-US" sz="2100" dirty="0" err="1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этажность</a:t>
            </a:r>
            <a:r>
              <a:rPr lang="en-US" sz="2100" dirty="0">
                <a:solidFill>
                  <a:srgbClr val="5B6B85"/>
                </a:solidFill>
                <a:latin typeface="Cambria" panose="02040503050406030204" pitchFamily="18" charset="0"/>
                <a:ea typeface="Cambria" panose="02040503050406030204" pitchFamily="18" charset="0"/>
                <a:cs typeface="Golos Text" pitchFamily="34" charset="-120"/>
              </a:rPr>
              <a:t>).</a:t>
            </a:r>
            <a:endParaRPr 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966246" y="2232660"/>
            <a:ext cx="7407236" cy="7387590"/>
          </a:xfrm>
          <a:prstGeom prst="roundRect">
            <a:avLst>
              <a:gd name="adj" fmla="val 2063"/>
            </a:avLst>
          </a:prstGeom>
          <a:solidFill>
            <a:srgbClr val="EAF1FF"/>
          </a:solidFill>
          <a:ln w="7620">
            <a:solidFill>
              <a:srgbClr val="E2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54866" y="4437221"/>
            <a:ext cx="72929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ФОРМУЛА РАСЧЁТА НАСЕЛЕНИЯ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354866" y="5381149"/>
            <a:ext cx="108454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i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</a:t>
            </a:r>
            <a:r>
              <a:rPr lang="en-US" sz="1800" i="1" baseline="-40000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hex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572756" y="5396389"/>
            <a:ext cx="29301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=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1999119" y="5381149"/>
            <a:ext cx="1530501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i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</a:t>
            </a:r>
            <a:r>
              <a:rPr lang="en-US" sz="1800" i="1" baseline="-40000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district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3600034" y="5396389"/>
            <a:ext cx="29301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×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4351198" y="5027772"/>
            <a:ext cx="1844123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i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</a:t>
            </a:r>
            <a:r>
              <a:rPr lang="en-US" sz="1800" i="1" baseline="-40000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hex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4026396" y="5610701"/>
            <a:ext cx="2301954" cy="28575"/>
          </a:xfrm>
          <a:prstGeom prst="rect">
            <a:avLst/>
          </a:prstGeom>
          <a:solidFill>
            <a:srgbClr val="0A1A33"/>
          </a:solidFill>
          <a:ln/>
        </p:spPr>
      </p:sp>
      <p:sp>
        <p:nvSpPr>
          <p:cNvPr id="21" name="Text 19"/>
          <p:cNvSpPr/>
          <p:nvPr/>
        </p:nvSpPr>
        <p:spPr>
          <a:xfrm>
            <a:off x="14159746" y="5734526"/>
            <a:ext cx="226545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i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</a:t>
            </a:r>
            <a:r>
              <a:rPr lang="en-US" sz="1800" i="1" baseline="-40000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district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10354866" y="6507956"/>
            <a:ext cx="6629995" cy="9525"/>
          </a:xfrm>
          <a:prstGeom prst="rect">
            <a:avLst/>
          </a:prstGeom>
          <a:solidFill>
            <a:srgbClr val="E2E8F2"/>
          </a:solidFill>
          <a:ln/>
        </p:spPr>
      </p:sp>
      <p:sp>
        <p:nvSpPr>
          <p:cNvPr id="23" name="Text 21"/>
          <p:cNvSpPr/>
          <p:nvPr/>
        </p:nvSpPr>
        <p:spPr>
          <a:xfrm>
            <a:off x="10354866" y="6725126"/>
            <a:ext cx="6828895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5000"/>
              </a:lnSpc>
            </a:pPr>
            <a:r>
              <a:rPr lang="en-US" sz="1950" i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</a:t>
            </a: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</a:t>
            </a:r>
            <a:r>
              <a:rPr lang="en-US" dirty="0" err="1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суммарный</a:t>
            </a:r>
            <a:r>
              <a:rPr lang="en-US" dirty="0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 </a:t>
            </a:r>
            <a:r>
              <a:rPr lang="en-US" dirty="0" err="1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жилой</a:t>
            </a:r>
            <a:r>
              <a:rPr lang="en-US" dirty="0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 </a:t>
            </a:r>
            <a:r>
              <a:rPr lang="en-US" dirty="0" err="1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объём</a:t>
            </a:r>
            <a:r>
              <a:rPr lang="en-US" dirty="0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 </a:t>
            </a:r>
            <a:r>
              <a:rPr lang="en-US" dirty="0" err="1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зданий</a:t>
            </a:r>
            <a:r>
              <a:rPr lang="en-US" dirty="0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 в </a:t>
            </a:r>
            <a:r>
              <a:rPr lang="en-US" dirty="0" err="1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гексагоне</a:t>
            </a:r>
            <a:r>
              <a:rPr lang="en-US" dirty="0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 </a:t>
            </a:r>
            <a:r>
              <a:rPr lang="en-US" dirty="0" err="1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относительно</a:t>
            </a:r>
            <a:r>
              <a:rPr lang="en-US" dirty="0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 </a:t>
            </a:r>
            <a:r>
              <a:rPr lang="en-US" dirty="0" err="1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объёма</a:t>
            </a:r>
            <a:r>
              <a:rPr lang="en-US" dirty="0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 </a:t>
            </a:r>
            <a:r>
              <a:rPr lang="en-US" dirty="0" err="1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всего</a:t>
            </a:r>
            <a:r>
              <a:rPr lang="en-US" dirty="0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 </a:t>
            </a:r>
            <a:r>
              <a:rPr lang="en-US" dirty="0" err="1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района</a:t>
            </a:r>
            <a:r>
              <a:rPr lang="en-US" dirty="0">
                <a:solidFill>
                  <a:srgbClr val="5B6B85"/>
                </a:solidFill>
                <a:latin typeface="Candara" panose="020E0502030303020204" pitchFamily="34" charset="0"/>
                <a:ea typeface="Cambria" panose="02040503050406030204" pitchFamily="18" charset="0"/>
                <a:cs typeface="Golos Text" pitchFamily="34" charset="-120"/>
              </a:rPr>
              <a:t>.</a:t>
            </a:r>
            <a:endParaRPr lang="en-US" sz="1800" dirty="0">
              <a:latin typeface="Candara" panose="020E0502030303020204" pitchFamily="34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01 · ТЕКУЩЕЕ ПОКРЫТИЕ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Гексагональная карта покрытия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156460"/>
            <a:ext cx="12382500" cy="746379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7620">
            <a:solidFill>
              <a:srgbClr val="E2E8F2"/>
            </a:solidFill>
            <a:prstDash val="solid"/>
          </a:ln>
          <a:effectLst>
            <a:outerShdw blurRad="381000" dist="114300" dir="5400000" algn="bl" rotWithShape="0">
              <a:srgbClr val="0A1A33">
                <a:alpha val="2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1253" r="1253"/>
          <a:stretch/>
        </p:blipFill>
        <p:spPr>
          <a:xfrm>
            <a:off x="922020" y="2164080"/>
            <a:ext cx="12367260" cy="74485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54100" y="3180517"/>
            <a:ext cx="209550" cy="209550"/>
          </a:xfrm>
          <a:prstGeom prst="roundRect">
            <a:avLst>
              <a:gd name="adj" fmla="val 27273"/>
            </a:avLst>
          </a:prstGeom>
          <a:gradFill rotWithShape="1">
            <a:gsLst>
              <a:gs pos="0">
                <a:srgbClr val="FFC400">
                  <a:alpha val="100000"/>
                </a:srgbClr>
              </a:gs>
              <a:gs pos="100000">
                <a:srgbClr val="E5392E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7" name="Text 4"/>
          <p:cNvSpPr/>
          <p:nvPr/>
        </p:nvSpPr>
        <p:spPr>
          <a:xfrm>
            <a:off x="14116050" y="3123367"/>
            <a:ext cx="3355277" cy="1709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Соты «тепла» </a:t>
            </a:r>
            <a:r>
              <a:rPr lang="en-US" sz="195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пики плотности населения (результат дазиметрической модели).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13754100" y="5099804"/>
            <a:ext cx="209550" cy="209550"/>
          </a:xfrm>
          <a:prstGeom prst="ellipse">
            <a:avLst/>
          </a:prstGeom>
          <a:solidFill>
            <a:srgbClr val="1E63FF"/>
          </a:solidFill>
          <a:ln/>
        </p:spPr>
      </p:sp>
      <p:sp>
        <p:nvSpPr>
          <p:cNvPr id="9" name="Text 6"/>
          <p:cNvSpPr/>
          <p:nvPr/>
        </p:nvSpPr>
        <p:spPr>
          <a:xfrm>
            <a:off x="14116050" y="5042654"/>
            <a:ext cx="3355277" cy="706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Синие точки </a:t>
            </a:r>
            <a:r>
              <a:rPr lang="en-US" sz="195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действующие ПВЗ Ozon.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3754100" y="6054209"/>
            <a:ext cx="3619500" cy="2599134"/>
          </a:xfrm>
          <a:prstGeom prst="roundRect">
            <a:avLst>
              <a:gd name="adj" fmla="val 3665"/>
            </a:avLst>
          </a:prstGeom>
          <a:solidFill>
            <a:srgbClr val="EAF1FF"/>
          </a:solidFill>
          <a:ln/>
        </p:spPr>
      </p:sp>
      <p:sp>
        <p:nvSpPr>
          <p:cNvPr id="11" name="Shape 8"/>
          <p:cNvSpPr/>
          <p:nvPr/>
        </p:nvSpPr>
        <p:spPr>
          <a:xfrm>
            <a:off x="13754100" y="6054209"/>
            <a:ext cx="45720" cy="2599134"/>
          </a:xfrm>
          <a:prstGeom prst="rect">
            <a:avLst/>
          </a:prstGeom>
          <a:solidFill>
            <a:srgbClr val="005BFF"/>
          </a:solidFill>
          <a:ln/>
        </p:spPr>
      </p:sp>
      <p:sp>
        <p:nvSpPr>
          <p:cNvPr id="12" name="Text 9"/>
          <p:cNvSpPr/>
          <p:nvPr/>
        </p:nvSpPr>
        <p:spPr>
          <a:xfrm>
            <a:off x="14047470" y="6282809"/>
            <a:ext cx="338632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ГЛАВНЫЙ ИНСАЙТ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047470" y="6701909"/>
            <a:ext cx="3170835" cy="1760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025" b="1" dirty="0" err="1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Очевидный</a:t>
            </a:r>
            <a:r>
              <a:rPr lang="en-US" sz="202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</a:t>
            </a:r>
            <a:r>
              <a:rPr lang="en-US" sz="2025" b="1" dirty="0" err="1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дисбаланс</a:t>
            </a:r>
            <a:r>
              <a:rPr lang="en-US" sz="202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: </a:t>
            </a:r>
            <a:r>
              <a:rPr lang="en-US" sz="2025" b="1" dirty="0" err="1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густонаселённые</a:t>
            </a:r>
            <a:r>
              <a:rPr lang="en-US" sz="202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кластеры, где пункты выдачи полностью отсутствуют.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01 · НЕОХВАЧЕННЫЙ СПРОС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Слепые зоны: неохваченный спрос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363867"/>
            <a:ext cx="4191000" cy="2484596"/>
          </a:xfrm>
          <a:prstGeom prst="roundRect">
            <a:avLst>
              <a:gd name="adj" fmla="val 5367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6820" y="2657237"/>
            <a:ext cx="158419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E5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337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2800350" y="3061097"/>
            <a:ext cx="8005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/ 483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26820" y="3590687"/>
            <a:ext cx="3673145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гексагонов </a:t>
            </a:r>
            <a:r>
              <a:rPr lang="en-US" sz="187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без ПВЗ </a:t>
            </a:r>
            <a:r>
              <a:rPr lang="en-US" sz="1875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 радиусе доступности — </a:t>
            </a:r>
            <a:r>
              <a:rPr lang="en-US" sz="187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69.8% </a:t>
            </a:r>
            <a:r>
              <a:rPr lang="en-US" sz="1875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сетки города.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14400" y="5096113"/>
            <a:ext cx="4191000" cy="2484596"/>
          </a:xfrm>
          <a:prstGeom prst="roundRect">
            <a:avLst>
              <a:gd name="adj" fmla="val 5367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6820" y="5389483"/>
            <a:ext cx="39227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105 484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1226820" y="6322933"/>
            <a:ext cx="3673145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человек суммарно проживают </a:t>
            </a:r>
            <a:r>
              <a:rPr lang="en-US" sz="187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 этих слепых зонах </a:t>
            </a:r>
            <a:r>
              <a:rPr lang="en-US" sz="1875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200150" y="8076009"/>
            <a:ext cx="39814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БИЗНЕС-ЦЕЛЬ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0150" y="8476059"/>
            <a:ext cx="3728085" cy="727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Найти 5 приоритетных макро-зон для экспансии.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5562600" y="2156460"/>
            <a:ext cx="11811000" cy="746379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7620">
            <a:solidFill>
              <a:srgbClr val="E2E8F2"/>
            </a:solidFill>
            <a:prstDash val="solid"/>
          </a:ln>
          <a:effectLst>
            <a:outerShdw blurRad="381000" dist="114300" dir="5400000" algn="bl" rotWithShape="0">
              <a:srgbClr val="0A1A33">
                <a:alpha val="28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740" r="740"/>
          <a:stretch/>
        </p:blipFill>
        <p:spPr>
          <a:xfrm>
            <a:off x="5570220" y="2164080"/>
            <a:ext cx="11795760" cy="7448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01 · ИНДЕКС ДОСТУПНОСТИ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Индекс доступности по районам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1927860"/>
            <a:ext cx="5181600" cy="533400"/>
          </a:xfrm>
          <a:prstGeom prst="roundRect">
            <a:avLst>
              <a:gd name="adj" fmla="val 17857"/>
            </a:avLst>
          </a:prstGeom>
          <a:solidFill>
            <a:srgbClr val="EAF1FF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2042160"/>
            <a:ext cx="49560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Индекс = (ПВЗ / Население) × 10 000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747010"/>
            <a:ext cx="8039100" cy="6873240"/>
          </a:xfrm>
          <a:prstGeom prst="roundRect">
            <a:avLst>
              <a:gd name="adj" fmla="val 1940"/>
            </a:avLst>
          </a:prstGeom>
          <a:solidFill>
            <a:srgbClr val="FFFFFF"/>
          </a:solidFill>
          <a:ln w="7620">
            <a:solidFill>
              <a:srgbClr val="E2E8F2"/>
            </a:solidFill>
            <a:prstDash val="solid"/>
          </a:ln>
          <a:effectLst>
            <a:outerShdw blurRad="381000" dist="114300" dir="5400000" algn="bl" rotWithShape="0">
              <a:srgbClr val="0A1A33">
                <a:alpha val="2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15247" r="15247"/>
          <a:stretch/>
        </p:blipFill>
        <p:spPr>
          <a:xfrm>
            <a:off x="906780" y="2747010"/>
            <a:ext cx="8023860" cy="685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334500" y="2747010"/>
            <a:ext cx="8039100" cy="5287328"/>
          </a:xfrm>
          <a:prstGeom prst="roundRect">
            <a:avLst>
              <a:gd name="adj" fmla="val 2522"/>
            </a:avLst>
          </a:prstGeom>
          <a:solidFill>
            <a:srgbClr val="FFFFFF"/>
          </a:solidFill>
          <a:ln w="7620">
            <a:solidFill>
              <a:srgbClr val="E2E8F2"/>
            </a:solidFill>
            <a:prstDash val="solid"/>
          </a:ln>
          <a:effectLst>
            <a:outerShdw blurRad="381000" dist="114300" dir="5400000" algn="bl" rotWithShape="0">
              <a:srgbClr val="0A1A33">
                <a:alpha val="2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20150" b="-20150"/>
          <a:stretch/>
        </p:blipFill>
        <p:spPr>
          <a:xfrm>
            <a:off x="9342120" y="2754630"/>
            <a:ext cx="8023860" cy="52720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334500" y="8262938"/>
            <a:ext cx="3924300" cy="1357313"/>
          </a:xfrm>
          <a:prstGeom prst="roundRect">
            <a:avLst>
              <a:gd name="adj" fmla="val 8421"/>
            </a:avLst>
          </a:prstGeom>
          <a:solidFill>
            <a:srgbClr val="FDECEA"/>
          </a:solidFill>
          <a:ln/>
        </p:spPr>
      </p:sp>
      <p:sp>
        <p:nvSpPr>
          <p:cNvPr id="11" name="Text 7"/>
          <p:cNvSpPr/>
          <p:nvPr/>
        </p:nvSpPr>
        <p:spPr>
          <a:xfrm>
            <a:off x="9544050" y="8453438"/>
            <a:ext cx="38557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5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АНТИ-ЛИДЕР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544050" y="8834438"/>
            <a:ext cx="3610356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25000"/>
              </a:lnSpc>
            </a:pPr>
            <a:r>
              <a:rPr lang="en-US" sz="187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Железнодорожный район — </a:t>
            </a:r>
            <a:r>
              <a:rPr lang="ru-RU" sz="187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наименьшее соотношение </a:t>
            </a:r>
            <a:r>
              <a:rPr lang="en-US" sz="187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ПВЗ/10к</a:t>
            </a:r>
            <a:endParaRPr lang="en-US" sz="1875" dirty="0"/>
          </a:p>
        </p:txBody>
      </p:sp>
      <p:sp>
        <p:nvSpPr>
          <p:cNvPr id="13" name="Shape 9"/>
          <p:cNvSpPr/>
          <p:nvPr/>
        </p:nvSpPr>
        <p:spPr>
          <a:xfrm>
            <a:off x="13449300" y="8262938"/>
            <a:ext cx="3924300" cy="1357313"/>
          </a:xfrm>
          <a:prstGeom prst="roundRect">
            <a:avLst>
              <a:gd name="adj" fmla="val 8421"/>
            </a:avLst>
          </a:prstGeom>
          <a:solidFill>
            <a:srgbClr val="EAF1FF"/>
          </a:solidFill>
          <a:ln/>
        </p:spPr>
      </p:sp>
      <p:sp>
        <p:nvSpPr>
          <p:cNvPr id="14" name="Text 10"/>
          <p:cNvSpPr/>
          <p:nvPr/>
        </p:nvSpPr>
        <p:spPr>
          <a:xfrm>
            <a:off x="13658850" y="8453438"/>
            <a:ext cx="38557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РИСК ПЕРЕГРЕВА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3658850" y="8834438"/>
            <a:ext cx="3610356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Центральный — &gt;5 ПВЗ/10к, каннибализация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b="1" kern="0" spc="180" dirty="0">
                <a:solidFill>
                  <a:srgbClr val="005BFF"/>
                </a:solidFill>
                <a:latin typeface="JetBrains Mono"/>
                <a:ea typeface="JetBrains Mono"/>
                <a:cs typeface="JetBrains Mono" pitchFamily="34" charset="-120"/>
              </a:rPr>
              <a:t>РАЗДЕЛ 01 · СТРУКТУРА ДЕФИЦИТА</a:t>
            </a:r>
            <a:endParaRPr lang="en-US" dirty="0">
              <a:latin typeface="JetBrains Mono"/>
              <a:ea typeface="JetBrains Mono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Распределение гексагонов по дефициту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156460"/>
            <a:ext cx="9447967" cy="746379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7620">
            <a:solidFill>
              <a:srgbClr val="E2E8F2"/>
            </a:solidFill>
            <a:prstDash val="solid"/>
          </a:ln>
          <a:effectLst>
            <a:outerShdw blurRad="381000" dist="114300" dir="5400000" algn="bl" rotWithShape="0">
              <a:srgbClr val="0A1A33">
                <a:alpha val="2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20894" b="-20894"/>
          <a:stretch/>
        </p:blipFill>
        <p:spPr>
          <a:xfrm>
            <a:off x="1017270" y="2259330"/>
            <a:ext cx="9242227" cy="7258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857666" y="3863340"/>
            <a:ext cx="133350" cy="133350"/>
          </a:xfrm>
          <a:prstGeom prst="ellipse">
            <a:avLst/>
          </a:prstGeom>
          <a:solidFill>
            <a:srgbClr val="9C4DCC"/>
          </a:solidFill>
          <a:ln/>
        </p:spPr>
      </p:sp>
      <p:sp>
        <p:nvSpPr>
          <p:cNvPr id="7" name="Text 4"/>
          <p:cNvSpPr/>
          <p:nvPr/>
        </p:nvSpPr>
        <p:spPr>
          <a:xfrm>
            <a:off x="11162466" y="3749040"/>
            <a:ext cx="6397468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Левый пик </a:t>
            </a: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большинство гексагонов в зоне острого дефицита ПВЗ.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10857666" y="4895850"/>
            <a:ext cx="133350" cy="133350"/>
          </a:xfrm>
          <a:prstGeom prst="ellipse">
            <a:avLst/>
          </a:prstGeom>
          <a:solidFill>
            <a:srgbClr val="E5392E"/>
          </a:solidFill>
          <a:ln/>
        </p:spPr>
      </p:sp>
      <p:sp>
        <p:nvSpPr>
          <p:cNvPr id="9" name="Text 6"/>
          <p:cNvSpPr/>
          <p:nvPr/>
        </p:nvSpPr>
        <p:spPr>
          <a:xfrm>
            <a:off x="11162466" y="4781550"/>
            <a:ext cx="6397468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Красная линия </a:t>
            </a: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среднее по городу: </a:t>
            </a:r>
            <a:r>
              <a:rPr lang="en-US" sz="2100" b="1" dirty="0">
                <a:solidFill>
                  <a:srgbClr val="0A1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2.44 </a:t>
            </a: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ПВЗ на 10к человек.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0857666" y="5928360"/>
            <a:ext cx="133350" cy="133350"/>
          </a:xfrm>
          <a:prstGeom prst="ellipse">
            <a:avLst/>
          </a:prstGeom>
          <a:solidFill>
            <a:srgbClr val="C8A2D8"/>
          </a:solidFill>
          <a:ln/>
        </p:spPr>
      </p:sp>
      <p:sp>
        <p:nvSpPr>
          <p:cNvPr id="11" name="Text 8"/>
          <p:cNvSpPr/>
          <p:nvPr/>
        </p:nvSpPr>
        <p:spPr>
          <a:xfrm>
            <a:off x="11162466" y="5814060"/>
            <a:ext cx="6397468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Правый «хвост» </a:t>
            </a:r>
            <a:r>
              <a:rPr lang="en-US" sz="21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единичные перегретые зоны с избытком пунктов.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0857666" y="6903720"/>
            <a:ext cx="6515934" cy="1123950"/>
          </a:xfrm>
          <a:prstGeom prst="roundRect">
            <a:avLst>
              <a:gd name="adj" fmla="val 10169"/>
            </a:avLst>
          </a:prstGeom>
          <a:solidFill>
            <a:srgbClr val="EAF1FF"/>
          </a:solidFill>
          <a:ln/>
        </p:spPr>
      </p:sp>
      <p:sp>
        <p:nvSpPr>
          <p:cNvPr id="13" name="Text 10"/>
          <p:cNvSpPr/>
          <p:nvPr/>
        </p:nvSpPr>
        <p:spPr>
          <a:xfrm>
            <a:off x="11105316" y="7132320"/>
            <a:ext cx="621611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0A1A33"/>
                </a:solidFill>
                <a:highlight>
                  <a:srgbClr val="EAF1FF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Проблема — не в количестве ПВЗ, а в их </a:t>
            </a:r>
            <a:r>
              <a:rPr lang="en-US" sz="187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географическом распределении</a:t>
            </a:r>
            <a:r>
              <a:rPr lang="en-US" sz="1875" dirty="0">
                <a:solidFill>
                  <a:srgbClr val="0A1A33"/>
                </a:solidFill>
                <a:highlight>
                  <a:srgbClr val="EAF1FF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01 · КОНКУРЕНЦИЯ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Зоны перегрева и риск каннибализации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156460"/>
            <a:ext cx="11620500" cy="746379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7620">
            <a:solidFill>
              <a:srgbClr val="E2E8F2"/>
            </a:solidFill>
            <a:prstDash val="solid"/>
          </a:ln>
          <a:effectLst>
            <a:outerShdw blurRad="381000" dist="114300" dir="5400000" algn="bl" rotWithShape="0">
              <a:srgbClr val="0A1A33">
                <a:alpha val="2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3720" r="3720"/>
          <a:stretch/>
        </p:blipFill>
        <p:spPr>
          <a:xfrm>
            <a:off x="922020" y="2164080"/>
            <a:ext cx="11605260" cy="74485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992100" y="2823210"/>
            <a:ext cx="4381500" cy="1809750"/>
          </a:xfrm>
          <a:prstGeom prst="roundRect">
            <a:avLst>
              <a:gd name="adj" fmla="val 7368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285470" y="3078480"/>
            <a:ext cx="417423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2.44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3285470" y="3783330"/>
            <a:ext cx="3908603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средний индекс обеспеченности по городу, ПВЗ / 10к чел.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2992100" y="4842510"/>
            <a:ext cx="4381500" cy="1809750"/>
          </a:xfrm>
          <a:prstGeom prst="roundRect">
            <a:avLst>
              <a:gd name="adj" fmla="val 7368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285470" y="5097780"/>
            <a:ext cx="241401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A1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4.88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13285470" y="5802630"/>
            <a:ext cx="3908603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порог перенасыщения — превышение среднего </a:t>
            </a:r>
            <a:r>
              <a:rPr lang="en-US" sz="180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 2 раза</a:t>
            </a: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2992100" y="6861810"/>
            <a:ext cx="4381500" cy="2091690"/>
          </a:xfrm>
          <a:prstGeom prst="roundRect">
            <a:avLst>
              <a:gd name="adj" fmla="val 6375"/>
            </a:avLst>
          </a:prstGeom>
          <a:solidFill>
            <a:srgbClr val="FDECEA"/>
          </a:solidFill>
          <a:ln/>
        </p:spPr>
      </p:sp>
      <p:sp>
        <p:nvSpPr>
          <p:cNvPr id="13" name="Text 10"/>
          <p:cNvSpPr/>
          <p:nvPr/>
        </p:nvSpPr>
        <p:spPr>
          <a:xfrm>
            <a:off x="13277850" y="7109460"/>
            <a:ext cx="41910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E5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52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13277850" y="7814310"/>
            <a:ext cx="3924300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перенасыщенных гексагона — кандидаты на </a:t>
            </a:r>
            <a:r>
              <a:rPr lang="en-US" sz="180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исключение </a:t>
            </a: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из экспансии.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01 · СБОР ДАННЫХ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Парсинг коммерческой недвижимости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14400" y="2175510"/>
            <a:ext cx="87801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ИСТОЧНИКИ И СТЕК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575560"/>
            <a:ext cx="878014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ЦИАН / Авито · </a:t>
            </a:r>
            <a:r>
              <a:rPr lang="en-US" sz="1800" dirty="0">
                <a:solidFill>
                  <a:srgbClr val="0A1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Selenium · BeautifulSoup · Pandas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14400" y="3183255"/>
            <a:ext cx="87801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БИЗНЕС-ФИЛЬТРЫ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583305"/>
            <a:ext cx="8221408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Красноярск · стрит-ритейл · аренда · 30–150 м² · 10 000–300 000 ₽/мес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914400" y="4551045"/>
            <a:ext cx="87801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E5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ПРЕОДОЛЕНИЕ СЛОЖНОСТЕЙ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6312" y="4951095"/>
            <a:ext cx="7996237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6688" indent="-166688" algn="l">
              <a:lnSpc>
                <a:spcPct val="150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Обход блокировок: ротация User-Agent, динамические задержки</a:t>
            </a:r>
            <a:endParaRPr lang="en-US" sz="1875" dirty="0"/>
          </a:p>
          <a:p>
            <a:pPr marL="166688" indent="-166688" algn="l">
              <a:lnSpc>
                <a:spcPct val="150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Очистка: удаление фейков, пересчёт цены «за м²» → «за месяц»</a:t>
            </a:r>
            <a:endParaRPr lang="en-US" sz="1875" dirty="0"/>
          </a:p>
          <a:p>
            <a:pPr marL="166688" indent="-166688" algn="l">
              <a:lnSpc>
                <a:spcPct val="150000"/>
              </a:lnSpc>
              <a:buSzPct val="100000"/>
              <a:buChar char="•"/>
              <a:tabLst>
                <a:tab pos="166688" algn="l"/>
              </a:tabLst>
            </a:pPr>
            <a:r>
              <a:rPr lang="en-US" sz="1875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Отсев предложений о продаже под видом аренды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391650" y="2175510"/>
            <a:ext cx="7981950" cy="7444740"/>
          </a:xfrm>
          <a:prstGeom prst="roundRect">
            <a:avLst>
              <a:gd name="adj" fmla="val 2047"/>
            </a:avLst>
          </a:prstGeom>
          <a:solidFill>
            <a:srgbClr val="F4F7FE"/>
          </a:solidFill>
          <a:ln w="7620">
            <a:solidFill>
              <a:srgbClr val="E2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0270" y="4220528"/>
            <a:ext cx="79251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ВОРОНКА ДАННЫХ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780270" y="4830128"/>
            <a:ext cx="3333750" cy="1501140"/>
          </a:xfrm>
          <a:prstGeom prst="roundRect">
            <a:avLst>
              <a:gd name="adj" fmla="val 7614"/>
            </a:avLst>
          </a:prstGeom>
          <a:solidFill>
            <a:srgbClr val="FFFFFF"/>
          </a:solidFill>
          <a:ln w="7620">
            <a:solidFill>
              <a:srgbClr val="E2E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26739" y="5066348"/>
            <a:ext cx="3440811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1933</a:t>
            </a:r>
            <a:endParaRPr lang="en-US" sz="4050" dirty="0"/>
          </a:p>
        </p:txBody>
      </p:sp>
      <p:sp>
        <p:nvSpPr>
          <p:cNvPr id="14" name="Text 12"/>
          <p:cNvSpPr/>
          <p:nvPr/>
        </p:nvSpPr>
        <p:spPr>
          <a:xfrm>
            <a:off x="9726739" y="5820728"/>
            <a:ext cx="344081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сырых объявлений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85470" y="5329238"/>
            <a:ext cx="285750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3666470" y="4837747"/>
            <a:ext cx="3318510" cy="1485900"/>
          </a:xfrm>
          <a:prstGeom prst="roundRect">
            <a:avLst>
              <a:gd name="adj" fmla="val 7692"/>
            </a:avLst>
          </a:prstGeom>
          <a:solidFill>
            <a:srgbClr val="005BFF"/>
          </a:solidFill>
          <a:ln/>
        </p:spPr>
      </p:sp>
      <p:sp>
        <p:nvSpPr>
          <p:cNvPr id="17" name="Text 15"/>
          <p:cNvSpPr/>
          <p:nvPr/>
        </p:nvSpPr>
        <p:spPr>
          <a:xfrm>
            <a:off x="13605320" y="5066348"/>
            <a:ext cx="3440811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568</a:t>
            </a:r>
            <a:endParaRPr lang="en-US" sz="4050" dirty="0"/>
          </a:p>
        </p:txBody>
      </p:sp>
      <p:sp>
        <p:nvSpPr>
          <p:cNvPr id="18" name="Text 16"/>
          <p:cNvSpPr/>
          <p:nvPr/>
        </p:nvSpPr>
        <p:spPr>
          <a:xfrm>
            <a:off x="13605320" y="5820728"/>
            <a:ext cx="344081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валидных кандидатов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780270" y="6617018"/>
            <a:ext cx="7204710" cy="9525"/>
          </a:xfrm>
          <a:prstGeom prst="rect">
            <a:avLst/>
          </a:prstGeom>
          <a:solidFill>
            <a:srgbClr val="E2E8F2"/>
          </a:solidFill>
          <a:ln/>
        </p:spPr>
      </p:sp>
      <p:sp>
        <p:nvSpPr>
          <p:cNvPr id="20" name="Text 18"/>
          <p:cNvSpPr/>
          <p:nvPr/>
        </p:nvSpPr>
        <p:spPr>
          <a:xfrm>
            <a:off x="9780270" y="6912293"/>
            <a:ext cx="7420852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Отсеяно </a:t>
            </a:r>
            <a:r>
              <a:rPr lang="en-US" sz="180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71% </a:t>
            </a: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объявлений — в модель попадают только реальные помещения под аренду.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01 · ПУЛ КАНДИДАТОВ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Карта доступных помещений с ценами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156460"/>
            <a:ext cx="12192000" cy="746379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7620">
            <a:solidFill>
              <a:srgbClr val="E2E8F2"/>
            </a:solidFill>
            <a:prstDash val="solid"/>
          </a:ln>
          <a:effectLst>
            <a:outerShdw blurRad="381000" dist="114300" dir="5400000" algn="bl" rotWithShape="0">
              <a:srgbClr val="0A1A33">
                <a:alpha val="2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6743" r="6743"/>
          <a:stretch/>
        </p:blipFill>
        <p:spPr>
          <a:xfrm>
            <a:off x="922020" y="2164080"/>
            <a:ext cx="12176760" cy="74485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563600" y="3028950"/>
            <a:ext cx="3810000" cy="1809750"/>
          </a:xfrm>
          <a:prstGeom prst="roundRect">
            <a:avLst>
              <a:gd name="adj" fmla="val 7368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856970" y="3284220"/>
            <a:ext cx="354558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568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3856970" y="3989070"/>
            <a:ext cx="3319958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актуальных объявлений после очистки от выбросов.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3563600" y="5067300"/>
            <a:ext cx="3810000" cy="1489710"/>
          </a:xfrm>
          <a:prstGeom prst="roundRect">
            <a:avLst>
              <a:gd name="adj" fmla="val 8951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837920" y="5303520"/>
            <a:ext cx="35874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ФИЛЬТРЫ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837920" y="5703570"/>
            <a:ext cx="3359201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Площадь 30–150 м² · только аренда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3563600" y="6785610"/>
            <a:ext cx="3810000" cy="1962150"/>
          </a:xfrm>
          <a:prstGeom prst="roundRect">
            <a:avLst>
              <a:gd name="adj" fmla="val 6796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837920" y="7021830"/>
            <a:ext cx="35874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A1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ЦЕНОВОЙ «СВЕТОФОР»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3837920" y="7511415"/>
            <a:ext cx="171450" cy="171450"/>
          </a:xfrm>
          <a:prstGeom prst="ellipse">
            <a:avLst/>
          </a:prstGeom>
          <a:solidFill>
            <a:srgbClr val="2EAA4E"/>
          </a:solidFill>
          <a:ln/>
        </p:spPr>
      </p:sp>
      <p:sp>
        <p:nvSpPr>
          <p:cNvPr id="15" name="Text 12"/>
          <p:cNvSpPr/>
          <p:nvPr/>
        </p:nvSpPr>
        <p:spPr>
          <a:xfrm>
            <a:off x="14123670" y="7459980"/>
            <a:ext cx="1900476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 50 000 ₽/мес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3837920" y="7900035"/>
            <a:ext cx="171450" cy="171450"/>
          </a:xfrm>
          <a:prstGeom prst="ellipse">
            <a:avLst/>
          </a:prstGeom>
          <a:solidFill>
            <a:srgbClr val="F2B600"/>
          </a:solidFill>
          <a:ln/>
        </p:spPr>
      </p:sp>
      <p:sp>
        <p:nvSpPr>
          <p:cNvPr id="17" name="Text 14"/>
          <p:cNvSpPr/>
          <p:nvPr/>
        </p:nvSpPr>
        <p:spPr>
          <a:xfrm>
            <a:off x="14123670" y="7848600"/>
            <a:ext cx="268189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50 000 – 100 000 ₽/мес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3837920" y="8288655"/>
            <a:ext cx="171450" cy="171450"/>
          </a:xfrm>
          <a:prstGeom prst="ellipse">
            <a:avLst/>
          </a:prstGeom>
          <a:solidFill>
            <a:srgbClr val="E5392E"/>
          </a:solidFill>
          <a:ln/>
        </p:spPr>
      </p:sp>
      <p:sp>
        <p:nvSpPr>
          <p:cNvPr id="19" name="Text 16"/>
          <p:cNvSpPr/>
          <p:nvPr/>
        </p:nvSpPr>
        <p:spPr>
          <a:xfrm>
            <a:off x="14123670" y="8237220"/>
            <a:ext cx="1991916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 100 000 ₽/мес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5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1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39750" y="-1428750"/>
            <a:ext cx="6096000" cy="609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377446"/>
            <a:ext cx="18105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360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02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914400" y="3979426"/>
            <a:ext cx="12753975" cy="1903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200" b="1" kern="0" spc="-144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Рекомендации по расширению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914400" y="6111359"/>
            <a:ext cx="1020318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dirty="0">
                <a:solidFill>
                  <a:srgbClr val="FFFFFF">
                    <a:alpha val="90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 стратегии выбора зон — к тактике выбора конкретных помещений по максимальному ROI.</a:t>
            </a:r>
            <a:endParaRPr lang="en-US" sz="2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02 · АРХИТЕКТУРА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Архитектура решения: двухуровневая модель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4072057"/>
            <a:ext cx="7325796" cy="1882378"/>
          </a:xfrm>
          <a:prstGeom prst="roundRect">
            <a:avLst>
              <a:gd name="adj" fmla="val 7084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4300657"/>
            <a:ext cx="74716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E5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ПРОБЛЕМА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1100" y="4700707"/>
            <a:ext cx="6996168" cy="10632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Искать помещение сразу по всему городу — долго, дорого и ведёт к ошибкам: можно открыть ПВЗ там, где он не нужен.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6183035"/>
            <a:ext cx="7325796" cy="1540669"/>
          </a:xfrm>
          <a:prstGeom prst="roundRect">
            <a:avLst>
              <a:gd name="adj" fmla="val 8655"/>
            </a:avLst>
          </a:prstGeom>
          <a:solidFill>
            <a:srgbClr val="EAF1FF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6411635"/>
            <a:ext cx="74716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РЕШЕНИЕ — ОТ ОБЩЕГО К ЧАСТНОМУ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1100" y="6811685"/>
            <a:ext cx="6996168" cy="721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Сначала отбираем </a:t>
            </a:r>
            <a:r>
              <a:rPr lang="en-US" sz="195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стратегические зоны </a:t>
            </a:r>
            <a:r>
              <a:rPr lang="en-US" sz="195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, и только затем — </a:t>
            </a:r>
            <a:r>
              <a:rPr lang="en-US" sz="195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тактические адреса </a:t>
            </a:r>
            <a:r>
              <a:rPr lang="en-US" sz="195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внутри них.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8773596" y="3695700"/>
            <a:ext cx="8600004" cy="1127760"/>
          </a:xfrm>
          <a:prstGeom prst="roundRect">
            <a:avLst>
              <a:gd name="adj" fmla="val 11824"/>
            </a:avLst>
          </a:prstGeom>
          <a:solidFill>
            <a:srgbClr val="0A1A33"/>
          </a:solidFill>
          <a:ln/>
        </p:spPr>
      </p:sp>
      <p:sp>
        <p:nvSpPr>
          <p:cNvPr id="11" name="Text 9"/>
          <p:cNvSpPr/>
          <p:nvPr/>
        </p:nvSpPr>
        <p:spPr>
          <a:xfrm>
            <a:off x="9078396" y="4095750"/>
            <a:ext cx="3733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7FB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85127" y="3943350"/>
            <a:ext cx="539263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Город — гексагональная сетка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85127" y="4301490"/>
            <a:ext cx="539263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483 гексагона, все данные на единой сетке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76384" y="4899660"/>
            <a:ext cx="27051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461540" y="5402580"/>
            <a:ext cx="7223998" cy="1066800"/>
          </a:xfrm>
          <a:prstGeom prst="roundRect">
            <a:avLst>
              <a:gd name="adj" fmla="val 12500"/>
            </a:avLst>
          </a:prstGeom>
          <a:solidFill>
            <a:srgbClr val="005BFF"/>
          </a:solidFill>
          <a:ln/>
        </p:spPr>
      </p:sp>
      <p:sp>
        <p:nvSpPr>
          <p:cNvPr id="16" name="Text 14"/>
          <p:cNvSpPr/>
          <p:nvPr/>
        </p:nvSpPr>
        <p:spPr>
          <a:xfrm>
            <a:off x="9747290" y="5772150"/>
            <a:ext cx="8191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МАК</a:t>
            </a:r>
            <a:r>
              <a:rPr lang="ru-RU" sz="1950" b="1" dirty="0">
                <a:solidFill>
                  <a:srgbClr val="FFFFFF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</a:t>
            </a:r>
            <a:r>
              <a:rPr lang="en-US" sz="1950" b="1" dirty="0">
                <a:solidFill>
                  <a:srgbClr val="FFFFFF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699790" y="5631180"/>
            <a:ext cx="333328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Топ-5 приоритетных зон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699790" y="5966460"/>
            <a:ext cx="333328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много людей, нет ПВЗ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976384" y="6545580"/>
            <a:ext cx="27051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0235565" y="7048500"/>
            <a:ext cx="5675948" cy="1051560"/>
          </a:xfrm>
          <a:prstGeom prst="roundRect">
            <a:avLst>
              <a:gd name="adj" fmla="val 12681"/>
            </a:avLst>
          </a:prstGeom>
          <a:solidFill>
            <a:srgbClr val="FFFFFF"/>
          </a:solidFill>
          <a:ln w="15240">
            <a:solidFill>
              <a:srgbClr val="005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67319" y="7355205"/>
            <a:ext cx="912187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МИК</a:t>
            </a:r>
            <a:r>
              <a:rPr lang="ru-RU" sz="1800" b="1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</a:t>
            </a:r>
            <a:r>
              <a:rPr lang="en-US" sz="1800" b="1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393806" y="7273290"/>
            <a:ext cx="369502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Конкретные адреса с ценой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1393806" y="7600950"/>
            <a:ext cx="36950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максимум ROI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02 · МАКРО-УРОВЕНЬ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Макро-уровень: поиск приоритетных зон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335655"/>
            <a:ext cx="133350" cy="133350"/>
          </a:xfrm>
          <a:prstGeom prst="ellipse">
            <a:avLst/>
          </a:prstGeom>
          <a:solidFill>
            <a:srgbClr val="005BFF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230880"/>
            <a:ext cx="4218623" cy="1404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Логика поиска: </a:t>
            </a:r>
            <a:r>
              <a:rPr lang="en-US" sz="195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максимум неохваченного населения; зоны без доступной аренды отсекаются сразу.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4807268"/>
            <a:ext cx="4381500" cy="1443038"/>
          </a:xfrm>
          <a:prstGeom prst="roundRect">
            <a:avLst>
              <a:gd name="adj" fmla="val 9241"/>
            </a:avLst>
          </a:prstGeom>
          <a:solidFill>
            <a:srgbClr val="FDECEA"/>
          </a:solidFill>
          <a:ln/>
        </p:spPr>
      </p:sp>
      <p:sp>
        <p:nvSpPr>
          <p:cNvPr id="7" name="Text 5"/>
          <p:cNvSpPr/>
          <p:nvPr/>
        </p:nvSpPr>
        <p:spPr>
          <a:xfrm>
            <a:off x="1162050" y="5016818"/>
            <a:ext cx="42748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E539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ПРОБЛЕМА КАННИБАЛИЗАЦИИ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62050" y="5397818"/>
            <a:ext cx="400278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Простой топ-5 соберётся на одной улице.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14400" y="6459855"/>
            <a:ext cx="4381500" cy="2085975"/>
          </a:xfrm>
          <a:prstGeom prst="roundRect">
            <a:avLst>
              <a:gd name="adj" fmla="val 6393"/>
            </a:avLst>
          </a:prstGeom>
          <a:solidFill>
            <a:srgbClr val="EAF1FF"/>
          </a:solidFill>
          <a:ln/>
        </p:spPr>
      </p:sp>
      <p:sp>
        <p:nvSpPr>
          <p:cNvPr id="10" name="Text 8"/>
          <p:cNvSpPr/>
          <p:nvPr/>
        </p:nvSpPr>
        <p:spPr>
          <a:xfrm>
            <a:off x="1162050" y="6669405"/>
            <a:ext cx="42748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РЕШЕНИЕ — АЛГОРИТМ NMS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62050" y="7050405"/>
            <a:ext cx="400278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Выбранный гексагон </a:t>
            </a:r>
            <a:r>
              <a:rPr lang="en-US" sz="187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блокирует соседние </a:t>
            </a:r>
            <a:r>
              <a:rPr lang="en-US" sz="1875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соты. Точки равномерно распределяются по городу.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5753100" y="2156460"/>
            <a:ext cx="11620500" cy="746379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7620">
            <a:solidFill>
              <a:srgbClr val="E2E8F2"/>
            </a:solidFill>
            <a:prstDash val="solid"/>
          </a:ln>
          <a:effectLst>
            <a:outerShdw blurRad="381000" dist="114300" dir="5400000" algn="bl" rotWithShape="0">
              <a:srgbClr val="0A1A33">
                <a:alpha val="28000"/>
              </a:srgbClr>
            </a:outerShdw>
          </a:effectLst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4373" r="4373"/>
          <a:stretch/>
        </p:blipFill>
        <p:spPr>
          <a:xfrm>
            <a:off x="5760720" y="2164080"/>
            <a:ext cx="11605260" cy="7448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02 · МАТЕМАТИКА МАКРО-УРОВНЯ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Математика макро-уровня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580447"/>
            <a:ext cx="16459200" cy="1254442"/>
          </a:xfrm>
          <a:prstGeom prst="roundRect">
            <a:avLst>
              <a:gd name="adj" fmla="val 10630"/>
            </a:avLst>
          </a:prstGeom>
          <a:solidFill>
            <a:srgbClr val="F4F7FE"/>
          </a:solidFill>
          <a:ln w="7620">
            <a:solidFill>
              <a:srgbClr val="E2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2995" y="3933349"/>
            <a:ext cx="356235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600" i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r>
              <a:rPr lang="en-US" sz="36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(</a:t>
            </a:r>
            <a:r>
              <a:rPr lang="en-US" sz="3600" i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r>
              <a:rPr lang="en-US" sz="36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) = </a:t>
            </a:r>
            <a:r>
              <a:rPr lang="en-US" sz="3600" i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r>
              <a:rPr lang="en-US" sz="1950" baseline="300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−</a:t>
            </a:r>
            <a:r>
              <a:rPr lang="en-US" sz="1950" i="1" baseline="30000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r>
              <a:rPr lang="en-US" sz="1950" baseline="3000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/</a:t>
            </a:r>
            <a:r>
              <a:rPr lang="en-US" sz="1950" i="1" baseline="30000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46320" y="3854768"/>
            <a:ext cx="9525" cy="705802"/>
          </a:xfrm>
          <a:prstGeom prst="rect">
            <a:avLst/>
          </a:prstGeom>
          <a:solidFill>
            <a:srgbClr val="E2E8F2"/>
          </a:solidFill>
          <a:ln/>
        </p:spPr>
      </p:sp>
      <p:sp>
        <p:nvSpPr>
          <p:cNvPr id="7" name="Text 5"/>
          <p:cNvSpPr/>
          <p:nvPr/>
        </p:nvSpPr>
        <p:spPr>
          <a:xfrm>
            <a:off x="5158740" y="3854768"/>
            <a:ext cx="12229643" cy="743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Гравитационное затухание. </a:t>
            </a:r>
            <a:r>
              <a:rPr lang="en-US" sz="1875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Вероятность визита падает с расстоянием. </a:t>
            </a:r>
            <a:r>
              <a:rPr lang="en-US" sz="1875" i="1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</a:t>
            </a:r>
            <a:r>
              <a:rPr lang="en-US" sz="1875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дистанция до ближайшего ПВЗ, </a:t>
            </a:r>
            <a:r>
              <a:rPr lang="en-US" sz="1875" i="1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 </a:t>
            </a:r>
            <a:r>
              <a:rPr lang="en-US" sz="1875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комфортный пеший радиус (500 м).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14400" y="5063490"/>
            <a:ext cx="16459200" cy="1699260"/>
          </a:xfrm>
          <a:prstGeom prst="roundRect">
            <a:avLst>
              <a:gd name="adj" fmla="val 7848"/>
            </a:avLst>
          </a:prstGeom>
          <a:solidFill>
            <a:srgbClr val="F4F7FE"/>
          </a:solidFill>
          <a:ln w="7620">
            <a:solidFill>
              <a:srgbClr val="E2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343" y="5337810"/>
            <a:ext cx="3335655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450" i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r>
              <a:rPr lang="en-US" sz="1950" i="1" baseline="-40000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r>
              <a:rPr lang="en-US" sz="345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= </a:t>
            </a:r>
            <a:r>
              <a:rPr lang="en-US" sz="3450" i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r>
              <a:rPr lang="en-US" sz="1950" i="1" baseline="-40000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r>
              <a:rPr lang="en-US" sz="345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× (1 − </a:t>
            </a:r>
            <a:r>
              <a:rPr lang="en-US" sz="3450" i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r>
              <a:rPr lang="en-US" sz="345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(</a:t>
            </a:r>
            <a:r>
              <a:rPr lang="en-US" sz="3450" i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r>
              <a:rPr lang="en-US" sz="1800" i="1" baseline="-40000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i,min</a:t>
            </a:r>
            <a:r>
              <a:rPr lang="en-US" sz="345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))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4846320" y="5564029"/>
            <a:ext cx="9525" cy="698183"/>
          </a:xfrm>
          <a:prstGeom prst="rect">
            <a:avLst/>
          </a:prstGeom>
          <a:solidFill>
            <a:srgbClr val="E2E8F2"/>
          </a:solidFill>
          <a:ln/>
        </p:spPr>
      </p:sp>
      <p:sp>
        <p:nvSpPr>
          <p:cNvPr id="11" name="Text 9"/>
          <p:cNvSpPr/>
          <p:nvPr/>
        </p:nvSpPr>
        <p:spPr>
          <a:xfrm>
            <a:off x="5158740" y="5564029"/>
            <a:ext cx="12229643" cy="736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Индекс неудовлетворённого спроса. </a:t>
            </a:r>
            <a:r>
              <a:rPr lang="en-US" sz="1875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Население гексагона </a:t>
            </a:r>
            <a:r>
              <a:rPr lang="en-US" sz="1875" i="1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Pᵢ </a:t>
            </a:r>
            <a:r>
              <a:rPr lang="en-US" sz="1875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× доля людей, которым сейчас далеко идти до Ozon.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14400" y="6991350"/>
            <a:ext cx="16459200" cy="1223963"/>
          </a:xfrm>
          <a:prstGeom prst="roundRect">
            <a:avLst>
              <a:gd name="adj" fmla="val 10895"/>
            </a:avLst>
          </a:prstGeom>
          <a:solidFill>
            <a:srgbClr val="005B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5375" y="7325201"/>
            <a:ext cx="356235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r>
              <a:rPr lang="en-US" sz="1800" i="1" baseline="-40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r>
              <a:rPr lang="en-US" sz="33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= </a:t>
            </a:r>
            <a:r>
              <a:rPr lang="en-US" sz="3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r>
              <a:rPr lang="en-US" sz="1800" i="1" baseline="-40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r>
              <a:rPr lang="en-US" sz="33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× </a:t>
            </a:r>
            <a:r>
              <a:rPr lang="en-US" sz="3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</a:t>
            </a:r>
            <a:r>
              <a:rPr lang="en-US" sz="1800" baseline="-400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avail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4838700" y="7258050"/>
            <a:ext cx="9525" cy="690563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151120" y="7258050"/>
            <a:ext cx="1224534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FFFFFF">
                    <a:alpha val="92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Финальный скор дефицита. </a:t>
            </a:r>
            <a:r>
              <a:rPr lang="en-US" sz="1875" dirty="0">
                <a:solidFill>
                  <a:srgbClr val="FFFFFF">
                    <a:alpha val="92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Спрос домножается на бинарный фильтр наличия доступной аренды: нет помещений — нет зоны.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02 · МИКРО-УРОВЕНЬ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Микро-уровень: оценка помещений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4630103"/>
            <a:ext cx="133350" cy="133350"/>
          </a:xfrm>
          <a:prstGeom prst="ellipse">
            <a:avLst/>
          </a:prstGeom>
          <a:solidFill>
            <a:srgbClr val="005BFF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4525328"/>
            <a:ext cx="9714476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Буфер охвата. </a:t>
            </a:r>
            <a:r>
              <a:rPr lang="en-US" sz="2025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Вокруг каждого адреса — пешая зона радиусом 500 м.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14400" y="5237798"/>
            <a:ext cx="133350" cy="133350"/>
          </a:xfrm>
          <a:prstGeom prst="ellipse">
            <a:avLst/>
          </a:prstGeom>
          <a:solidFill>
            <a:srgbClr val="16996B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5133023"/>
            <a:ext cx="10615232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Ареальная интерполяция. </a:t>
            </a:r>
            <a:r>
              <a:rPr lang="en-US" sz="2025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Из новой зоны вычитаются участки, уже покрытые существующими ПВЗ.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14400" y="6100763"/>
            <a:ext cx="10591800" cy="1150620"/>
          </a:xfrm>
          <a:prstGeom prst="roundRect">
            <a:avLst>
              <a:gd name="adj" fmla="val 11589"/>
            </a:avLst>
          </a:prstGeom>
          <a:solidFill>
            <a:srgbClr val="EAF1FF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6329363"/>
            <a:ext cx="1037615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A1A33"/>
                </a:solidFill>
                <a:highlight>
                  <a:srgbClr val="EAF1FF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Засчитываем </a:t>
            </a:r>
            <a:r>
              <a:rPr lang="en-US" sz="1950" dirty="0" err="1">
                <a:solidFill>
                  <a:srgbClr val="0A1A33"/>
                </a:solidFill>
                <a:highlight>
                  <a:srgbClr val="EAF1FF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только</a:t>
            </a:r>
            <a:r>
              <a:rPr lang="en-US" sz="1950" dirty="0">
                <a:solidFill>
                  <a:srgbClr val="0A1A33"/>
                </a:solidFill>
                <a:highlight>
                  <a:srgbClr val="EAF1FF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 </a:t>
            </a:r>
            <a:r>
              <a:rPr lang="en-US" sz="1950" dirty="0" err="1">
                <a:solidFill>
                  <a:srgbClr val="0A1A33"/>
                </a:solidFill>
                <a:highlight>
                  <a:srgbClr val="EAF1FF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уникальных</a:t>
            </a:r>
            <a:r>
              <a:rPr lang="en-US" sz="1950" dirty="0">
                <a:solidFill>
                  <a:srgbClr val="0A1A33"/>
                </a:solidFill>
                <a:highlight>
                  <a:srgbClr val="EAF1FF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 клиентов из бывших слепых зон, а не пересекающийся трафик.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039600" y="2156460"/>
            <a:ext cx="5334000" cy="746379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7620">
            <a:solidFill>
              <a:srgbClr val="E2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706350" y="4935855"/>
            <a:ext cx="2286000" cy="2286000"/>
          </a:xfrm>
          <a:prstGeom prst="ellipse">
            <a:avLst/>
          </a:prstGeom>
          <a:solidFill>
            <a:srgbClr val="1E63FF">
              <a:alpha val="18000"/>
            </a:srgbClr>
          </a:solidFill>
          <a:ln w="15240">
            <a:solidFill>
              <a:srgbClr val="1E6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20850" y="4745355"/>
            <a:ext cx="2286000" cy="2286000"/>
          </a:xfrm>
          <a:prstGeom prst="ellipse">
            <a:avLst/>
          </a:prstGeom>
          <a:solidFill>
            <a:srgbClr val="16996B">
              <a:alpha val="30000"/>
            </a:srgbClr>
          </a:solidFill>
          <a:ln w="15240">
            <a:solidFill>
              <a:srgbClr val="1699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87350" y="4592955"/>
            <a:ext cx="1508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6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Старый ПВЗ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377160" y="7050405"/>
            <a:ext cx="135788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99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Новый ПВЗ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781282" y="9128760"/>
            <a:ext cx="58506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 err="1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Заштрихована</a:t>
            </a: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</a:t>
            </a:r>
            <a:r>
              <a:rPr lang="en-US" sz="1800" dirty="0" err="1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только</a:t>
            </a: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</a:t>
            </a:r>
            <a:r>
              <a:rPr lang="en-US" sz="1800" dirty="0" err="1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уникальная</a:t>
            </a: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</a:t>
            </a:r>
            <a:r>
              <a:rPr lang="en-US" sz="1800" dirty="0" err="1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зона</a:t>
            </a: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</a:t>
            </a:r>
            <a:r>
              <a:rPr lang="en-US" sz="1800" dirty="0" err="1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охвата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02 · МЕТРИКИ И ROI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Метрики микро-уровня и ROI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4559260"/>
            <a:ext cx="7981950" cy="1259919"/>
          </a:xfrm>
          <a:prstGeom prst="roundRect">
            <a:avLst>
              <a:gd name="adj" fmla="val 10584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7770" y="4814530"/>
            <a:ext cx="81347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МАРЖИНАЛЬНЫЙ ОХВАТ · MCI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07770" y="5214581"/>
            <a:ext cx="8134731" cy="387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95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Количество новых уникальных клиентов для адреса </a:t>
            </a:r>
            <a:r>
              <a:rPr lang="en-US" sz="1950" i="1" dirty="0">
                <a:solidFill>
                  <a:srgbClr val="0A1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r>
              <a:rPr lang="en-US" sz="1950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6066830"/>
            <a:ext cx="7981950" cy="1188720"/>
          </a:xfrm>
          <a:prstGeom prst="roundRect">
            <a:avLst>
              <a:gd name="adj" fmla="val 11218"/>
            </a:avLst>
          </a:prstGeom>
          <a:solidFill>
            <a:srgbClr val="EAF1FF"/>
          </a:solidFill>
          <a:ln/>
        </p:spPr>
      </p:sp>
      <p:sp>
        <p:nvSpPr>
          <p:cNvPr id="8" name="Text 6"/>
          <p:cNvSpPr/>
          <p:nvPr/>
        </p:nvSpPr>
        <p:spPr>
          <a:xfrm>
            <a:off x="1200150" y="6314480"/>
            <a:ext cx="7649908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A1A33"/>
                </a:solidFill>
                <a:highlight>
                  <a:srgbClr val="EAF1FF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Алгоритм сортирует все адреса по </a:t>
            </a:r>
            <a:r>
              <a:rPr lang="en-US" sz="195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ROI </a:t>
            </a:r>
            <a:r>
              <a:rPr lang="en-US" sz="1950" dirty="0">
                <a:solidFill>
                  <a:srgbClr val="0A1A33"/>
                </a:solidFill>
                <a:highlight>
                  <a:srgbClr val="EAF1FF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 выдаёт </a:t>
            </a:r>
            <a:r>
              <a:rPr lang="en-US" sz="195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 победителя </a:t>
            </a:r>
            <a:r>
              <a:rPr lang="en-US" sz="1950" dirty="0">
                <a:solidFill>
                  <a:srgbClr val="0A1A33"/>
                </a:solidFill>
                <a:highlight>
                  <a:srgbClr val="EAF1FF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для каждой из 5 макро-зон.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91650" y="3871913"/>
            <a:ext cx="7981950" cy="4070985"/>
          </a:xfrm>
          <a:prstGeom prst="roundRect">
            <a:avLst>
              <a:gd name="adj" fmla="val 3744"/>
            </a:avLst>
          </a:prstGeom>
          <a:solidFill>
            <a:srgbClr val="005BFF"/>
          </a:solidFill>
          <a:ln/>
        </p:spPr>
      </p:sp>
      <p:sp>
        <p:nvSpPr>
          <p:cNvPr id="10" name="Text 8"/>
          <p:cNvSpPr/>
          <p:nvPr/>
        </p:nvSpPr>
        <p:spPr>
          <a:xfrm>
            <a:off x="9810750" y="4329113"/>
            <a:ext cx="78581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ОЦЕНКА ЭФФЕКТИВНОСТИ ИНВЕСТИЦИЙ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10750" y="5334000"/>
            <a:ext cx="98131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</a:t>
            </a:r>
            <a:r>
              <a:rPr lang="en-US" sz="1950" i="1" baseline="-40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944463" y="5345430"/>
            <a:ext cx="336352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=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585615" y="4919663"/>
            <a:ext cx="2604933" cy="609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MCI</a:t>
            </a:r>
            <a:r>
              <a:rPr lang="en-US" sz="1800" i="1" baseline="-40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</a:t>
            </a: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LTV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11433215" y="5605463"/>
            <a:ext cx="2645212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240102" y="5748338"/>
            <a:ext cx="116506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</a:t>
            </a:r>
            <a:r>
              <a:rPr lang="en-US" sz="1800" i="1" baseline="-40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9810750" y="6605588"/>
            <a:ext cx="7143750" cy="9525"/>
          </a:xfrm>
          <a:prstGeom prst="rect">
            <a:avLst/>
          </a:prstGeom>
          <a:solidFill>
            <a:srgbClr val="FFFFFF">
              <a:alpha val="27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810750" y="6822758"/>
            <a:ext cx="7358063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FFFFFF">
                    <a:alpha val="9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LTV </a:t>
            </a: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ожидаемая выручка с клиента · </a:t>
            </a:r>
            <a:r>
              <a:rPr lang="en-US" sz="1800" i="1" dirty="0">
                <a:solidFill>
                  <a:srgbClr val="FFFFFF">
                    <a:alpha val="9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Rentⱼ </a:t>
            </a: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— стоимость аренды помещения.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02 · РЕЗУЛЬТАТЫ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Результаты внедрения алгоритма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118360"/>
            <a:ext cx="7805738" cy="750189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7620">
            <a:solidFill>
              <a:srgbClr val="E2E8F2"/>
            </a:solidFill>
            <a:prstDash val="solid"/>
          </a:ln>
          <a:effectLst>
            <a:outerShdw blurRad="381000" dist="114300" dir="5400000" algn="bl" rotWithShape="0">
              <a:srgbClr val="0A1A33">
                <a:alpha val="2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21991" r="21991"/>
          <a:stretch/>
        </p:blipFill>
        <p:spPr>
          <a:xfrm>
            <a:off x="922020" y="2125980"/>
            <a:ext cx="7790498" cy="74866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7338" y="2118360"/>
            <a:ext cx="8196262" cy="2373630"/>
          </a:xfrm>
          <a:prstGeom prst="roundRect">
            <a:avLst>
              <a:gd name="adj" fmla="val 5618"/>
            </a:avLst>
          </a:prstGeom>
          <a:solidFill>
            <a:srgbClr val="005BFF"/>
          </a:solidFill>
          <a:ln/>
        </p:spPr>
      </p:sp>
      <p:sp>
        <p:nvSpPr>
          <p:cNvPr id="7" name="Text 4"/>
          <p:cNvSpPr/>
          <p:nvPr/>
        </p:nvSpPr>
        <p:spPr>
          <a:xfrm>
            <a:off x="9463088" y="3007519"/>
            <a:ext cx="2943225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Прирост уникальной аудитории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4961870" y="2916555"/>
            <a:ext cx="2338578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+6 183</a:t>
            </a:r>
            <a:endParaRPr lang="en-US" sz="4650" dirty="0"/>
          </a:p>
        </p:txBody>
      </p:sp>
      <p:sp>
        <p:nvSpPr>
          <p:cNvPr id="9" name="Shape 6"/>
          <p:cNvSpPr/>
          <p:nvPr/>
        </p:nvSpPr>
        <p:spPr>
          <a:xfrm>
            <a:off x="9177338" y="4682490"/>
            <a:ext cx="4002881" cy="2373630"/>
          </a:xfrm>
          <a:prstGeom prst="roundRect">
            <a:avLst>
              <a:gd name="adj" fmla="val 5618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32607" y="4899660"/>
            <a:ext cx="3841575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1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203 664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432607" y="5478780"/>
            <a:ext cx="38415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аренда новых точек, ₽/мес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3370719" y="4682490"/>
            <a:ext cx="4002881" cy="2373630"/>
          </a:xfrm>
          <a:prstGeom prst="roundRect">
            <a:avLst>
              <a:gd name="adj" fmla="val 5618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625989" y="4899660"/>
            <a:ext cx="3841575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99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32.94 ₽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3625989" y="5478780"/>
            <a:ext cx="359711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стоимость привлечения клиента (CAC)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177338" y="7246620"/>
            <a:ext cx="4002881" cy="2373630"/>
          </a:xfrm>
          <a:prstGeom prst="roundRect">
            <a:avLst>
              <a:gd name="adj" fmla="val 5618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32607" y="7463790"/>
            <a:ext cx="124206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5B6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48.13%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10693718" y="7555230"/>
            <a:ext cx="1162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47.61%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432607" y="7966710"/>
            <a:ext cx="38415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слепые зоны: до → после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3370719" y="7246620"/>
            <a:ext cx="4002881" cy="2373630"/>
          </a:xfrm>
          <a:prstGeom prst="roundRect">
            <a:avLst>
              <a:gd name="adj" fmla="val 5618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625989" y="7463790"/>
            <a:ext cx="3841575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−0.52 п.п.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13625989" y="8042910"/>
            <a:ext cx="359711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сокращение слепых зон первой волной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02 · ПРОВЕРКА РЕШЕНИЯ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Граф доступности новой сети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118360"/>
            <a:ext cx="11811000" cy="750189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7620">
            <a:solidFill>
              <a:srgbClr val="E2E8F2"/>
            </a:solidFill>
            <a:prstDash val="solid"/>
          </a:ln>
          <a:effectLst>
            <a:outerShdw blurRad="381000" dist="114300" dir="5400000" algn="bl" rotWithShape="0">
              <a:srgbClr val="0A1A33">
                <a:alpha val="2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6858" b="6858"/>
          <a:stretch/>
        </p:blipFill>
        <p:spPr>
          <a:xfrm>
            <a:off x="922020" y="2125980"/>
            <a:ext cx="11795760" cy="74866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182600" y="3281244"/>
            <a:ext cx="2019300" cy="1535430"/>
          </a:xfrm>
          <a:prstGeom prst="roundRect">
            <a:avLst>
              <a:gd name="adj" fmla="val 7444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399770" y="3479363"/>
            <a:ext cx="174345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196 м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13399770" y="4069913"/>
            <a:ext cx="166116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среднее до ПВЗ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5354300" y="3281244"/>
            <a:ext cx="2019300" cy="1535430"/>
          </a:xfrm>
          <a:prstGeom prst="roundRect">
            <a:avLst>
              <a:gd name="adj" fmla="val 7444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571470" y="3479363"/>
            <a:ext cx="174345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A1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94 м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15571470" y="4069913"/>
            <a:ext cx="166116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минимум до сети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3182600" y="4969073"/>
            <a:ext cx="2019300" cy="1535430"/>
          </a:xfrm>
          <a:prstGeom prst="roundRect">
            <a:avLst>
              <a:gd name="adj" fmla="val 7444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399770" y="5167193"/>
            <a:ext cx="174345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A1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462 м</a:t>
            </a:r>
            <a:endParaRPr lang="en-US" sz="3150" dirty="0"/>
          </a:p>
        </p:txBody>
      </p:sp>
      <p:sp>
        <p:nvSpPr>
          <p:cNvPr id="14" name="Text 11"/>
          <p:cNvSpPr/>
          <p:nvPr/>
        </p:nvSpPr>
        <p:spPr>
          <a:xfrm>
            <a:off x="13399770" y="5757743"/>
            <a:ext cx="174345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максимум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5354300" y="4969073"/>
            <a:ext cx="2019300" cy="1535430"/>
          </a:xfrm>
          <a:prstGeom prst="roundRect">
            <a:avLst>
              <a:gd name="adj" fmla="val 7444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571470" y="5167193"/>
            <a:ext cx="174345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1699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/ 5</a:t>
            </a:r>
            <a:endParaRPr lang="en-US" sz="3150" dirty="0"/>
          </a:p>
        </p:txBody>
      </p:sp>
      <p:sp>
        <p:nvSpPr>
          <p:cNvPr id="17" name="Text 14"/>
          <p:cNvSpPr/>
          <p:nvPr/>
        </p:nvSpPr>
        <p:spPr>
          <a:xfrm>
            <a:off x="15571470" y="5757743"/>
            <a:ext cx="166116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B6B8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 радиусе 500 м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3182600" y="6733104"/>
            <a:ext cx="4191000" cy="1724263"/>
          </a:xfrm>
          <a:prstGeom prst="roundRect">
            <a:avLst>
              <a:gd name="adj" fmla="val 5524"/>
            </a:avLst>
          </a:prstGeom>
          <a:solidFill>
            <a:srgbClr val="EAF1FF"/>
          </a:solidFill>
          <a:ln/>
        </p:spPr>
      </p:sp>
      <p:sp>
        <p:nvSpPr>
          <p:cNvPr id="19" name="Shape 16"/>
          <p:cNvSpPr/>
          <p:nvPr/>
        </p:nvSpPr>
        <p:spPr>
          <a:xfrm>
            <a:off x="13182600" y="6733104"/>
            <a:ext cx="45720" cy="1724263"/>
          </a:xfrm>
          <a:prstGeom prst="rect">
            <a:avLst/>
          </a:prstGeom>
          <a:solidFill>
            <a:srgbClr val="005BFF"/>
          </a:solidFill>
          <a:ln/>
        </p:spPr>
      </p:sp>
      <p:sp>
        <p:nvSpPr>
          <p:cNvPr id="20" name="Text 17"/>
          <p:cNvSpPr/>
          <p:nvPr/>
        </p:nvSpPr>
        <p:spPr>
          <a:xfrm>
            <a:off x="13456920" y="6942654"/>
            <a:ext cx="40568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ЗАЩИТА ОТ КАННИБАЛИЗАЦИИ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456920" y="7342704"/>
            <a:ext cx="3798723" cy="943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800" b="1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Нет критически коротких рёбер — трафик новых точек уникален.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2950"/>
            <a:ext cx="181051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02 · ЧЕСТНОСТЬ МОДЕЛИ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00150"/>
            <a:ext cx="1810512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500" b="1" kern="0" spc="-67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Допущения и ограничения модели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232660"/>
            <a:ext cx="8039100" cy="3560445"/>
          </a:xfrm>
          <a:prstGeom prst="roundRect">
            <a:avLst>
              <a:gd name="adj" fmla="val 3745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6820" y="2506980"/>
            <a:ext cx="81556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ПРОСТРАНСТВЕННЫЕ ФАКТОРЫ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26820" y="2926080"/>
            <a:ext cx="763668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Расстояния — по геометрии буферов охвата, а не по реальному дорожному графу и пешеходной сети.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334500" y="2232660"/>
            <a:ext cx="8039100" cy="3560445"/>
          </a:xfrm>
          <a:prstGeom prst="roundRect">
            <a:avLst>
              <a:gd name="adj" fmla="val 3745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46920" y="2506980"/>
            <a:ext cx="81556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ПОВЕДЕНЧЕСКИЕ ФАКТОРЫ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46920" y="2926080"/>
            <a:ext cx="763668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Модель предполагает выбор ближайшего ПВЗ; бренд, привычка и сервис не учитываются.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14400" y="6059805"/>
            <a:ext cx="8039100" cy="3560445"/>
          </a:xfrm>
          <a:prstGeom prst="roundRect">
            <a:avLst>
              <a:gd name="adj" fmla="val 3745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6820" y="6334125"/>
            <a:ext cx="81556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ЭКОНОМИКА И ОПЕРАЦИИ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6820" y="6753225"/>
            <a:ext cx="763668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LTV и арендные ставки — оценочные; операционные расходы и логистика вынесены за скобки.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334500" y="6059805"/>
            <a:ext cx="8039100" cy="3560445"/>
          </a:xfrm>
          <a:prstGeom prst="roundRect">
            <a:avLst>
              <a:gd name="adj" fmla="val 3745"/>
            </a:avLst>
          </a:prstGeom>
          <a:ln w="7620">
            <a:solidFill>
              <a:srgbClr val="E2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6920" y="6334125"/>
            <a:ext cx="81556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005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ДЕМОГРАФИЧЕСКИЙ ЛАГ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46920" y="6753225"/>
            <a:ext cx="763668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0A1A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Перепись 2020 не отражает новостройки последних лет — данные требуют актуализации.</a:t>
            </a:r>
            <a:endParaRPr lang="en-US" sz="18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5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alphaModFix amt="1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49250" y="5334000"/>
            <a:ext cx="6477000" cy="647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742950"/>
            <a:ext cx="18105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34" dirty="0">
                <a:solidFill>
                  <a:srgbClr val="FFFFFF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ЗАКЛЮЧЕНИЕ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914400" y="3901440"/>
            <a:ext cx="1810512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b="1" kern="0" spc="-156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Спасибо за внимание!</a:t>
            </a:r>
            <a:endParaRPr lang="en-US" sz="7800" dirty="0"/>
          </a:p>
        </p:txBody>
      </p:sp>
      <p:sp>
        <p:nvSpPr>
          <p:cNvPr id="5" name="Text 2"/>
          <p:cNvSpPr/>
          <p:nvPr/>
        </p:nvSpPr>
        <p:spPr>
          <a:xfrm>
            <a:off x="914400" y="5158740"/>
            <a:ext cx="10791825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FFFFFF">
                    <a:alpha val="92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Воспроизводимая модель геоаналитики: от зон дефицита спроса — к адресам с максимальным ROI. Код проекта открыт.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14400" y="8843010"/>
            <a:ext cx="11580971" cy="777240"/>
          </a:xfrm>
          <a:prstGeom prst="roundRect">
            <a:avLst>
              <a:gd name="adj" fmla="val 14706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9079230"/>
            <a:ext cx="9815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FFFFFF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265521" y="9387840"/>
            <a:ext cx="9955531" cy="1524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Text 6">
            <a:hlinkClick r:id="rId4"/>
          </p:cNvPr>
          <p:cNvSpPr/>
          <p:nvPr/>
        </p:nvSpPr>
        <p:spPr>
          <a:xfrm>
            <a:off x="2265521" y="9060180"/>
            <a:ext cx="1095108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u="sng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github.com/s1r24/Optimization-of-Ozon-pick-up-points-in-Krasnoyarsk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2537</Words>
  <Application>Microsoft Office PowerPoint</Application>
  <PresentationFormat>Произвольный</PresentationFormat>
  <Paragraphs>263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</vt:lpstr>
      <vt:lpstr>Cambria</vt:lpstr>
      <vt:lpstr>Candara</vt:lpstr>
      <vt:lpstr>Georgia</vt:lpstr>
      <vt:lpstr>Golos Text</vt:lpstr>
      <vt:lpstr>JetBrains Mono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Дима Васильев</cp:lastModifiedBy>
  <cp:revision>4</cp:revision>
  <dcterms:created xsi:type="dcterms:W3CDTF">2026-06-24T09:46:51Z</dcterms:created>
  <dcterms:modified xsi:type="dcterms:W3CDTF">2026-06-24T13:39:13Z</dcterms:modified>
</cp:coreProperties>
</file>